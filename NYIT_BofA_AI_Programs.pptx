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8229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NYIT School of Management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Certification &amp; Degree Programs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Bank of America Long Island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931920" y="3749040"/>
            <a:ext cx="1280160" cy="2743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LONG ISLAND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relationship-heavy, regulated, advice-driven franchise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82880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1,160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0292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06040" y="1554480"/>
            <a:ext cx="182880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373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0604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260604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centers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offices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09160" y="1554480"/>
            <a:ext cx="182880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7373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518K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47091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active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clients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812280" y="1554480"/>
            <a:ext cx="182880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7373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$3.2B</a:t>
            </a:r>
            <a:endParaRPr lang="en-US" sz="2800" dirty="0"/>
          </a:p>
        </p:txBody>
      </p:sp>
      <p:sp>
        <p:nvSpPr>
          <p:cNvPr id="19" name="Text 13"/>
          <p:cNvSpPr/>
          <p:nvPr/>
        </p:nvSpPr>
        <p:spPr>
          <a:xfrm>
            <a:off x="681228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business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DF2F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" y="3429000"/>
            <a:ext cx="54864" cy="1188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6"/>
          <p:cNvSpPr/>
          <p:nvPr/>
        </p:nvSpPr>
        <p:spPr>
          <a:xfrm>
            <a:off x="914400" y="352044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roles: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Bankers, Financial Solutions Advisors, Merrill Advisor Development, Wealth Management Client Associates, Market Leaders</a:t>
            </a:r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profile: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multigenerational households (median HHI $131K–$146K), retirement and estate planning demand, 42,000+ employer firms, multilingual service needs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training makes </a:t>
            </a:r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compliant</a:t>
            </a:r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AI users.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build </a:t>
            </a:r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capable</a:t>
            </a:r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AI professionals.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749040" cy="2194560"/>
          </a:xfrm>
          <a:prstGeom prst="rect">
            <a:avLst/>
          </a:prstGeom>
          <a:solidFill>
            <a:srgbClr val="0F1B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BofA Academy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1–2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basics and tool awareness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compliance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Erica for Employees (90%+ adoption)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guidelines and guardrails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331720"/>
            <a:ext cx="3749040" cy="2194560"/>
          </a:xfrm>
          <a:prstGeom prst="rect">
            <a:avLst/>
          </a:prstGeom>
          <a:solidFill>
            <a:srgbClr val="0F1B2D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NYIT Programs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2–6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30632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AI productivity (Certs)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design and leadership (Certs)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AI-driven management (MBA)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financial systems (MS)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Levels of AI Mastery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7220" y="1463040"/>
            <a:ext cx="1051560" cy="1371600"/>
          </a:xfrm>
          <a:prstGeom prst="rect">
            <a:avLst/>
          </a:prstGeom>
          <a:solidFill>
            <a:srgbClr val="EDF2F7"/>
          </a:solidFill>
          <a:ln w="9525">
            <a:solidFill>
              <a:srgbClr val="ED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45920"/>
            <a:ext cx="365760" cy="36576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" y="21488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60220" y="1463040"/>
            <a:ext cx="1051560" cy="1371600"/>
          </a:xfrm>
          <a:prstGeom prst="rect">
            <a:avLst/>
          </a:prstGeom>
          <a:solidFill>
            <a:srgbClr val="FDF8E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64592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60220" y="21488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03220" y="1463040"/>
            <a:ext cx="1051560" cy="1371600"/>
          </a:xfrm>
          <a:prstGeom prst="rect">
            <a:avLst/>
          </a:prstGeom>
          <a:solidFill>
            <a:srgbClr val="FDF8E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64592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03220" y="21488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46220" y="1463040"/>
            <a:ext cx="1051560" cy="1371600"/>
          </a:xfrm>
          <a:prstGeom prst="rect">
            <a:avLst/>
          </a:prstGeom>
          <a:solidFill>
            <a:srgbClr val="FDF8E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64592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46220" y="21488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89220" y="1463040"/>
            <a:ext cx="1051560" cy="1371600"/>
          </a:xfrm>
          <a:prstGeom prst="rect">
            <a:avLst/>
          </a:prstGeom>
          <a:solidFill>
            <a:srgbClr val="FDF8E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164592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89220" y="21488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32220" y="1463040"/>
            <a:ext cx="1051560" cy="1371600"/>
          </a:xfrm>
          <a:prstGeom prst="rect">
            <a:avLst/>
          </a:prstGeom>
          <a:solidFill>
            <a:srgbClr val="EBF0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16459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32220" y="21488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75220" y="1463040"/>
            <a:ext cx="1051560" cy="1371600"/>
          </a:xfrm>
          <a:prstGeom prst="rect">
            <a:avLst/>
          </a:prstGeom>
          <a:solidFill>
            <a:srgbClr val="EDF2F7"/>
          </a:solidFill>
          <a:ln w="9525">
            <a:solidFill>
              <a:srgbClr val="ED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1645920"/>
            <a:ext cx="365760" cy="36576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0" name="Text 28"/>
          <p:cNvSpPr/>
          <p:nvPr/>
        </p:nvSpPr>
        <p:spPr>
          <a:xfrm>
            <a:off x="78181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75220" y="21488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Unicorn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371600" y="3108960"/>
            <a:ext cx="274320" cy="1828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3" name="Text 31"/>
          <p:cNvSpPr/>
          <p:nvPr/>
        </p:nvSpPr>
        <p:spPr>
          <a:xfrm>
            <a:off x="1737360" y="3081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BofA Academy (Levels 1–2)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31920" y="3108960"/>
            <a:ext cx="274320" cy="182880"/>
          </a:xfrm>
          <a:prstGeom prst="rect">
            <a:avLst/>
          </a:prstGeom>
          <a:solidFill>
            <a:srgbClr val="FDF8E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3081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NYIT Certificates (Levels 2–5)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3108960"/>
            <a:ext cx="274320" cy="182880"/>
          </a:xfrm>
          <a:prstGeom prst="rect">
            <a:avLst/>
          </a:prstGeom>
          <a:solidFill>
            <a:srgbClr val="EBF0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081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&amp; MS (Levels 3–6)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" y="356616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36576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professionals sit at Levels 1–3.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certificates move them to 4–5, where AI stops being a convenience and starts being a competitive advantage. Our degrees reach Level 6, where your people build the AI systems your bank needs.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PROGRAMS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stackable credentials for your entire workforce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3291840"/>
          </a:xfrm>
          <a:prstGeom prst="rect">
            <a:avLst/>
          </a:prstGeom>
          <a:solidFill>
            <a:srgbClr val="0F1B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Fluency for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Services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  ·  ~20 hours  ·  Levels 2→4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roles: bankers, advisors, associates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prompting for client work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workspaces with persistent context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synthesis and meeting prep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AI in regulated finance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follow-up, and referral workflows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749040" cy="3291840"/>
          </a:xfrm>
          <a:prstGeom prst="rect">
            <a:avLst/>
          </a:prstGeom>
          <a:solidFill>
            <a:srgbClr val="0F1B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Leadership for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Services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 ·  ~25 hours  ·  Levels 4→5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managers, senior advisors, high-potentials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31089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tools to systems: the builder mindset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dashboards and client analytics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segmentation and predictive thinking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AI workflows with audit trails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ROI and building the business case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Concrete outcomes your managers will see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54864" cy="1463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Certificate 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employee prepares for any client meeting in 10 minutes instead of 45, produces compliant follow-up materials in seconds, and uses AI with the judgment to know what requires human review.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74904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63040"/>
            <a:ext cx="54864" cy="1463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Certificate II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leader designs, implements, and measures an AI-enabled workflow that reduces manual work by 30%+ in their team — and presents the business case in language that drives budget approval.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$1,499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9728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 · All roles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Certificates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$2,998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$5,250 IRS Section 127 cap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$1,499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1792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· Requires Cert 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CERTIFICATES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Certificates build skills.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Degrees build leaders and builders.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60320" cy="2286000"/>
          </a:xfrm>
          <a:prstGeom prst="rect">
            <a:avLst/>
          </a:prstGeom>
          <a:solidFill>
            <a:srgbClr val="0F1B2D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Judgment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graduates decide which workflows to redesign, build the business case, and lead adoption.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0" y="2286000"/>
            <a:ext cx="2560320" cy="2286000"/>
          </a:xfrm>
          <a:prstGeom prst="rect">
            <a:avLst/>
          </a:prstGeom>
          <a:solidFill>
            <a:srgbClr val="0F1B2D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4688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4904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749040" y="32461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graduates build credit models, compliance systems, and client intelligence platforms in-house.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309360" y="2286000"/>
            <a:ext cx="2560320" cy="2286000"/>
          </a:xfrm>
          <a:prstGeom prst="rect">
            <a:avLst/>
          </a:prstGeom>
          <a:solidFill>
            <a:srgbClr val="0F1B2D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4688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Credential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583680" y="32461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NYIT MBA or MS is recognized, transferable, and visible on every promotion discussion.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MBA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your managers can do after each course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credits  ·  24 months part-time  ·  Levels 3→5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this course, your manager can…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ACCT 601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down branch P&amp;L, isolate cost drivers, present with AI-generated visualizations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FINC 601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branch investments with AI-assisted scenario analysis and sensitivity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MGMT 605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teams through AI adoption resistance; coach a multigenerational workforce through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MRKT 620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client acquisition using AI segmentation — "call these people, for these reasons"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BUSA 630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models predicting client attrition, prospect conversion, and next-best 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MGMT 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a real AI transformation proposal for their own team, ready to implement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concentrations: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CFA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(Merrill advisors)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Business Analytics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(market leaders, operations)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4526280"/>
            <a:ext cx="54864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5262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MBA, your managers don’t just manage a branch — they redesign how it operates.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MS IN FINTECH &amp; DATA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your builders can do after each course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credits  ·  10 courses  ·  STEM designated  ·  Levels 4→6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D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D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this course, your builder can…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D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BUSA 602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client data extraction, clean datasets, generate reports with Python and 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D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BUSA 660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ML models for client churn prediction, lead scoring, and risk flagging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D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FINC 672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backtest quantitative investment strategies for Merrill’s advisory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D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FINC 771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NLP models analyzing earnings calls and SEC filings for investment signals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D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FINC 772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compliance monitoring workflows — automated flagging, reporting, audit trails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FINC 773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D5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working FinTech prototype solving a real BofA problem (capstone)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3840480"/>
            <a:ext cx="54864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8404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MS, your builders create the AI tools your bank needs — instead of waiting for vendors.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problems become our capstone projects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MS capstone (FINC 773) requires an industry sponsor. Bank of America defines real business problems; our students build working prototypes over a full semester under faculty supervision.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CAPSTONE PROJECTS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0720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advisor meeting prep system for LI wealth clients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1868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3200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 screening for small business lending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3016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3611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intelligence dashboard: CRM + market + portfolio data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41648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40233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attrition model for 518K digitally active clients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53128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4434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RegTech workflow for KYC/AML monitoring and reporting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system. Three entry points. Every career stage.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286000" cy="1188720"/>
          </a:xfrm>
          <a:prstGeom prst="rect">
            <a:avLst/>
          </a:prstGeom>
          <a:solidFill>
            <a:srgbClr val="0F1B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wks · $1,499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2→4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201168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29000" y="1554480"/>
            <a:ext cx="2286000" cy="1188720"/>
          </a:xfrm>
          <a:prstGeom prst="rect">
            <a:avLst/>
          </a:prstGeom>
          <a:solidFill>
            <a:srgbClr val="0F1B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90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2900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Leadership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wks · $1,499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4→5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1680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0" y="1554480"/>
            <a:ext cx="2286000" cy="1188720"/>
          </a:xfrm>
          <a:prstGeom prst="rect">
            <a:avLst/>
          </a:prstGeom>
          <a:solidFill>
            <a:srgbClr val="0F1B2D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Track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 scholarship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468880" y="2743200"/>
            <a:ext cx="36576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Shape 13"/>
          <p:cNvSpPr/>
          <p:nvPr/>
        </p:nvSpPr>
        <p:spPr>
          <a:xfrm>
            <a:off x="6629400" y="2743200"/>
            <a:ext cx="36576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" y="3154680"/>
            <a:ext cx="3749040" cy="1417320"/>
          </a:xfrm>
          <a:prstGeom prst="rect">
            <a:avLst/>
          </a:prstGeom>
          <a:solidFill>
            <a:srgbClr val="0F1B2D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375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MBA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914400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LEADERSHIP TRACK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91440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managers, market leaders, and senior advisors who will redesign how their teams operate.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54880" y="3154680"/>
            <a:ext cx="3749040" cy="1417320"/>
          </a:xfrm>
          <a:prstGeom prst="rect">
            <a:avLst/>
          </a:prstGeom>
          <a:solidFill>
            <a:srgbClr val="0F1B2D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3756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in FinTech &amp; Data Analytics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029200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 TRACK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02920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analysts and innovation talent who will build AI-driven financial systems.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Streamlined admission for BofA professionals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/ GRE Waiver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2588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years professional experience qualifies for test waiver. Work is the credential.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463040"/>
            <a:ext cx="374904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916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BofA Cohort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4068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alongside colleagues who share your regulatory environment and client challenges.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3017520"/>
            <a:ext cx="374904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461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Scholarship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32588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per certificate toward degree tuition. Two certificates = $1,000 applied.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3017520"/>
            <a:ext cx="374904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461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Benefit Alignment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4068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within IRS Section 127 $5,250 cap. Programs structured for employer education benefits.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build the partnership.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945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148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first cohort — which talent pool, how many employees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5176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can launch within 60 days of agreement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0896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cohorts begin each fall and spring semester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6616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3520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programs designed around your calendar and talent priorities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2286000" y="3931920"/>
            <a:ext cx="4572000" cy="9144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14" name="Text 8"/>
          <p:cNvSpPr/>
          <p:nvPr/>
        </p:nvSpPr>
        <p:spPr>
          <a:xfrm>
            <a:off x="2286000" y="4069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Jaishankar Ganesh, Ph.D.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Dean, School of Management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Institute of Technology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jganesh@nyit.edu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NYIT AI Programs for Bank of America</dc:title>
  <dc:subject>PptxGenJS Presentation</dc:subject>
  <dc:creator>NYIT School of Management</dc:creator>
  <cp:lastModifiedBy>NYIT School of Management</cp:lastModifiedBy>
  <cp:revision>1</cp:revision>
  <dcterms:created xsi:type="dcterms:W3CDTF">2026-03-29T13:32:26Z</dcterms:created>
  <dcterms:modified xsi:type="dcterms:W3CDTF">2026-03-29T13:32:26Z</dcterms:modified>
</cp:coreProperties>
</file>